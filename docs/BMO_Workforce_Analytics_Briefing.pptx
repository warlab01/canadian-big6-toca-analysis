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r>
              <a:rPr sz="900" b="0" i="0" u="none" strike="noStrike">
                <a:solidFill>
                  <a:srgbClr val="4B5563"/>
                </a:solidFill>
                <a:latin typeface="Arial"/>
              </a:rPr>
              <a:t>Adjusted ROE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RBC</c:v>
                  </c:pt>
                  <c:pt idx="1">
                    <c:v>CIBC</c:v>
                  </c:pt>
                  <c:pt idx="2">
                    <c:v>TD</c:v>
                  </c:pt>
                  <c:pt idx="3">
                    <c:v>BMO</c:v>
                  </c:pt>
                  <c:pt idx="4">
                    <c:v>BNS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16.8</c:v>
                </c:pt>
                <c:pt idx="1">
                  <c:v>14.5</c:v>
                </c:pt>
                <c:pt idx="2">
                  <c:v>12.8</c:v>
                </c:pt>
                <c:pt idx="3">
                  <c:v>11.3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r>
              <a:rPr sz="900" b="0" i="0" u="none" strike="noStrike">
                <a:solidFill>
                  <a:srgbClr val="4B5563"/>
                </a:solidFill>
                <a:latin typeface="Arial"/>
              </a:rPr>
              <a:t>Revenue Per Employee ($K CAD)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Rev/Emp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BMO</c:v>
                  </c:pt>
                  <c:pt idx="1">
                    <c:v>RBC</c:v>
                  </c:pt>
                  <c:pt idx="2">
                    <c:v>TD</c:v>
                  </c:pt>
                  <c:pt idx="3">
                    <c:v>CIBC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658</c:v>
                </c:pt>
                <c:pt idx="1">
                  <c:v>646</c:v>
                </c:pt>
                <c:pt idx="2">
                  <c:v>611</c:v>
                </c:pt>
                <c:pt idx="3">
                  <c:v>571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r>
              <a:rPr sz="900" b="0" i="0" u="none" strike="noStrike">
                <a:solidFill>
                  <a:srgbClr val="4B5563"/>
                </a:solidFill>
                <a:latin typeface="Arial"/>
              </a:rPr>
              <a:t>Estimated TOCA % of Total FTE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TOCA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BMO</c:v>
                  </c:pt>
                  <c:pt idx="1">
                    <c:v>BNS</c:v>
                  </c:pt>
                  <c:pt idx="2">
                    <c:v>TD</c:v>
                  </c:pt>
                  <c:pt idx="3">
                    <c:v>RBC</c:v>
                  </c:pt>
                  <c:pt idx="4">
                    <c:v>CIBC</c:v>
                  </c:pt>
                  <c:pt idx="5">
                    <c:v>NA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32</c:v>
                </c:pt>
                <c:pt idx="2">
                  <c:v>30</c:v>
                </c:pt>
                <c:pt idx="3">
                  <c:v>28</c:v>
                </c:pt>
                <c:pt idx="4">
                  <c:v>27</c:v>
                </c:pt>
                <c:pt idx="5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r>
              <a:rPr sz="900" b="0" i="0" u="none" strike="noStrike">
                <a:solidFill>
                  <a:srgbClr val="4B5563"/>
                </a:solidFill>
                <a:latin typeface="Arial"/>
              </a:rPr>
              <a:t>Revenue per LOB FTE ($K CAD)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Rev/LOB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BMO</c:v>
                  </c:pt>
                  <c:pt idx="1">
                    <c:v>RBC</c:v>
                  </c:pt>
                  <c:pt idx="2">
                    <c:v>TD</c:v>
                  </c:pt>
                  <c:pt idx="3">
                    <c:v>NA</c:v>
                  </c:pt>
                  <c:pt idx="4">
                    <c:v>CIBC</c:v>
                  </c:pt>
                  <c:pt idx="5">
                    <c:v>BNS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1567</c:v>
                </c:pt>
                <c:pt idx="1">
                  <c:v>1445</c:v>
                </c:pt>
                <c:pt idx="2">
                  <c:v>1234</c:v>
                </c:pt>
                <c:pt idx="3">
                  <c:v>890</c:v>
                </c:pt>
                <c:pt idx="4">
                  <c:v>751</c:v>
                </c:pt>
                <c:pt idx="5">
                  <c:v>573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r>
              <a:rPr sz="900" b="0" i="0" u="none" strike="noStrike">
                <a:solidFill>
                  <a:srgbClr val="4B5563"/>
                </a:solidFill>
                <a:latin typeface="Arial"/>
              </a:rPr>
              <a:t>Headcount Trajectory (FY2022–FY2025)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BMO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  <c:pt idx="3">
                    <c:v>FY2025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46722</c:v>
                </c:pt>
                <c:pt idx="1">
                  <c:v>56000</c:v>
                </c:pt>
                <c:pt idx="2">
                  <c:v>53597</c:v>
                </c:pt>
                <c:pt idx="3">
                  <c:v>53234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RBC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  <c:pt idx="3">
                    <c:v>FY2025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91428</c:v>
                </c:pt>
                <c:pt idx="1">
                  <c:v>91398</c:v>
                </c:pt>
                <c:pt idx="2">
                  <c:v>94838</c:v>
                </c:pt>
                <c:pt idx="3">
                  <c:v>96628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TD</c:v>
                </c:pt>
              </c:strCache>
            </c:strRef>
          </c:tx>
          <c:spPr>
            <a:solidFill>
              <a:srgbClr val="16A34A"/>
            </a:solidFill>
            <a:ln w="3175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  <c:pt idx="3">
                    <c:v>FY2025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94945</c:v>
                </c:pt>
                <c:pt idx="1">
                  <c:v>103257</c:v>
                </c:pt>
                <c:pt idx="2">
                  <c:v>102190</c:v>
                </c:pt>
                <c:pt idx="3">
                  <c:v>102218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r>
              <a:rPr sz="900" b="0" i="0" u="none" strike="noStrike">
                <a:solidFill>
                  <a:srgbClr val="4B5563"/>
                </a:solidFill>
                <a:latin typeface="Arial"/>
              </a:rPr>
              <a:t>Total Turnover by Bank (FY2024)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Voluntary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BMO</c:v>
                  </c:pt>
                  <c:pt idx="1">
                    <c:v>RBC</c:v>
                  </c:pt>
                  <c:pt idx="2">
                    <c:v>TD</c:v>
                  </c:pt>
                  <c:pt idx="3">
                    <c:v>CIBC</c:v>
                  </c:pt>
                  <c:pt idx="4">
                    <c:v>BNS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10.6</c:v>
                </c:pt>
                <c:pt idx="1">
                  <c:v>9.5</c:v>
                </c:pt>
                <c:pt idx="2">
                  <c:v>10.5</c:v>
                </c:pt>
                <c:pt idx="3">
                  <c:v>7.7</c:v>
                </c:pt>
                <c:pt idx="4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Involuntary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BMO</c:v>
                  </c:pt>
                  <c:pt idx="1">
                    <c:v>RBC</c:v>
                  </c:pt>
                  <c:pt idx="2">
                    <c:v>TD</c:v>
                  </c:pt>
                  <c:pt idx="3">
                    <c:v>CIBC</c:v>
                  </c:pt>
                  <c:pt idx="4">
                    <c:v>BNS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2.3</c:v>
                </c:pt>
                <c:pt idx="2">
                  <c:v>3.6</c:v>
                </c:pt>
                <c:pt idx="3">
                  <c:v>4.1</c:v>
                </c:pt>
                <c:pt idx="4">
                  <c:v>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r>
              <a:rPr sz="900" b="0" i="0" u="none" strike="noStrike">
                <a:solidFill>
                  <a:srgbClr val="4B5563"/>
                </a:solidFill>
                <a:latin typeface="Arial"/>
              </a:rPr>
              <a:t>Canada vs US: Voluntary &amp; Involuntary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Voluntary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BMO CA</c:v>
                  </c:pt>
                  <c:pt idx="1">
                    <c:v>BMO US</c:v>
                  </c:pt>
                  <c:pt idx="2">
                    <c:v>TD CA</c:v>
                  </c:pt>
                  <c:pt idx="3">
                    <c:v>TD US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9.8</c:v>
                </c:pt>
                <c:pt idx="1">
                  <c:v>12.2</c:v>
                </c:pt>
                <c:pt idx="2">
                  <c:v>10.1</c:v>
                </c:pt>
                <c:pt idx="3">
                  <c:v>11.4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Involuntary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BMO CA</c:v>
                  </c:pt>
                  <c:pt idx="1">
                    <c:v>BMO US</c:v>
                  </c:pt>
                  <c:pt idx="2">
                    <c:v>TD CA</c:v>
                  </c:pt>
                  <c:pt idx="3">
                    <c:v>TD US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3.5</c:v>
                </c:pt>
                <c:pt idx="1">
                  <c:v>10.3</c:v>
                </c:pt>
                <c:pt idx="2">
                  <c:v>2.8</c:v>
                </c:pt>
                <c:pt idx="3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r>
              <a:rPr sz="900" b="0" i="0" u="none" strike="noStrike">
                <a:solidFill>
                  <a:srgbClr val="4B5563"/>
                </a:solidFill>
                <a:latin typeface="Arial"/>
              </a:rPr>
              <a:t>US Workforce Share vs Est. US Earnings Share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 Workforce 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BMO</c:v>
                  </c:pt>
                  <c:pt idx="1">
                    <c:v>TD</c:v>
                  </c:pt>
                  <c:pt idx="2">
                    <c:v>RBC</c:v>
                  </c:pt>
                  <c:pt idx="3">
                    <c:v>NA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34.4</c:v>
                </c:pt>
                <c:pt idx="1">
                  <c:v>30.1</c:v>
                </c:pt>
                <c:pt idx="2">
                  <c:v>16.3</c:v>
                </c:pt>
                <c:pt idx="3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Est. US Earnings 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BMO</c:v>
                  </c:pt>
                  <c:pt idx="1">
                    <c:v>TD</c:v>
                  </c:pt>
                  <c:pt idx="2">
                    <c:v>RBC</c:v>
                  </c:pt>
                  <c:pt idx="3">
                    <c:v>NA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</c:v>
                </c:pt>
                <c:pt idx="1">
                  <c:v>28</c:v>
                </c:pt>
                <c:pt idx="2">
                  <c:v>13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r>
              <a:rPr sz="900" b="0" i="0" u="none" strike="noStrike">
                <a:solidFill>
                  <a:srgbClr val="4B5563"/>
                </a:solidFill>
                <a:latin typeface="Arial"/>
              </a:rPr>
              <a:t>Adjusted Efficiency Ratio (%)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Eff. Ratio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NA</c:v>
                  </c:pt>
                  <c:pt idx="1">
                    <c:v>RBC</c:v>
                  </c:pt>
                  <c:pt idx="2">
                    <c:v>CIBC</c:v>
                  </c:pt>
                  <c:pt idx="3">
                    <c:v>TD</c:v>
                  </c:pt>
                  <c:pt idx="4">
                    <c:v>BMO</c:v>
                  </c:pt>
                  <c:pt idx="5">
                    <c:v>BNS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53.1</c:v>
                </c:pt>
                <c:pt idx="1">
                  <c:v>53.5</c:v>
                </c:pt>
                <c:pt idx="2">
                  <c:v>55</c:v>
                </c:pt>
                <c:pt idx="3">
                  <c:v>55</c:v>
                </c:pt>
                <c:pt idx="4">
                  <c:v>56.3</c:v>
                </c:pt>
                <c:pt idx="5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r>
              <a:rPr sz="900" b="0" i="0" u="none" strike="noStrike">
                <a:solidFill>
                  <a:srgbClr val="4B5563"/>
                </a:solidFill>
                <a:latin typeface="Arial"/>
              </a:rPr>
              <a:t>BMO NIE Cost Drivers (Conceptual)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F3460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bubble3D val="0"/>
            <c:spPr>
              <a:solidFill>
                <a:srgbClr val="D97706"/>
              </a:solidFill>
              <a:effectLst/>
            </c:spPr>
          </c:dPt>
          <c:dPt>
            <c:idx val="5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Perf. Comp</c:v>
                </c:pt>
                <c:pt idx="1">
                  <c:v>Base Sal. &amp; Benefits</c:v>
                </c:pt>
                <c:pt idx="2">
                  <c:v>Tech &amp; Ops</c:v>
                </c:pt>
                <c:pt idx="3">
                  <c:v>Severance</c:v>
                </c:pt>
                <c:pt idx="4">
                  <c:v>Acq. Intangibles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22</c:v>
                </c:pt>
                <c:pt idx="1">
                  <c:v>35</c:v>
                </c:pt>
                <c:pt idx="2">
                  <c:v>20</c:v>
                </c:pt>
                <c:pt idx="3">
                  <c:v>8</c:v>
                </c:pt>
                <c:pt idx="4">
                  <c:v>5</c:v>
                </c:pt>
                <c:pt idx="5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WARLAB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BMO Workforce Analytics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Briefing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Workforce-Related Factors Potentially Contributing to BMO’s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Gap vs. Canadian Peer Group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1828800" cy="457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Workforce Analytics — PeCU  |  February 2026  |  Classification: PUBLIC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entirely on publicly available information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ROE Conversion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BMO delivered ~12% adjusted revenue growth in FY2025 and record revenue in Q1 2026. Yet its ROE of 11.3% still trails RBC by ~550 basis points. The gap is not about top-line generation — it’s about the cost and composition of the workforce deployed to generate that revenue.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280160" cy="1051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11.3%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BMO ADJ. ROE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47088" y="2240280"/>
            <a:ext cx="1280160" cy="10515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47088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~16.8%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47088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ADJ. ROE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47088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36976" y="2240280"/>
            <a:ext cx="1280160" cy="1051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36976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~550bp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36976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RBC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36976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among peers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626864" y="2240280"/>
            <a:ext cx="1280160" cy="105156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26864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~33%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26864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BMO EST. TOCA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26864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Big 6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016752" y="2240280"/>
            <a:ext cx="1280160" cy="10515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16752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56.3%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16752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016752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200bp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406640" y="2240280"/>
            <a:ext cx="1280160" cy="10515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0664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$658K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0664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REV/EMPLOYEE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406640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Big 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Ranked Workforce Hypotheses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703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Post-acquisition workforce normalization lag (Bank of the West)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U.S. Banking workforce productivity deficit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Incomplete digital-to-headcount conversion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Dual-jurisdiction regulatory staffing overhead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Geographic cost structure from Bank of the West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WARLAB  |  Prepared by MIA  |  Classification: PUBLIC  | 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Revenue &amp; ROE Comparison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1097280"/>
                <a:gridCol w="1280160"/>
                <a:gridCol w="1097280"/>
                <a:gridCol w="1005840"/>
                <a:gridCol w="731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FY25 Rev Growth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 Adj. ROE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 EPS Growth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Ratio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Rev/Emp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~53-54%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~$646K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~7.6% adj.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~27% adj.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~95,000+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~$611K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~14-15%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~$571K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 adj.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~82,600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~$390K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~12% adj.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~26% adj.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~53,200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~$658K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57200" y="3017520"/>
          <a:ext cx="38404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3017520"/>
          <a:ext cx="39319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WARLAB  |  Prepared by MIA  |  Classification: PUBLIC  | 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COMPOSITION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TOCA vs LOB: Revenue-Producing vs Support Roles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Fermi estimation (corporate segment NIE, tech spending, industry benchmarks), BMO’s estimated non-revenue-producing headcount ratio emerges as the highest among peers.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1554480"/>
          <a:ext cx="39319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9" name="Shape 5"/>
          <p:cNvSpPr/>
          <p:nvPr/>
        </p:nvSpPr>
        <p:spPr>
          <a:xfrm>
            <a:off x="457200" y="3840480"/>
            <a:ext cx="54864" cy="685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BMO’s LOB productivity ($1,567K/FTE) is the strongest among peers. The issue isn’t LOB underperformance — it’s that TOCA overhead dilutes this advantage on a total-FTE basis.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WARLAB  |  Prepared by MIA  |  Classification: PUBLIC  | 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COMPOSITION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Estimated TOCA Composition: Full Comparison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53,234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102,190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48,552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88,488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31,303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TOCA FTE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26,555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30,657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28,316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TOCA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LOB:TOCA 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2.0:1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2.6:1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2.3:1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2.7:1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2.1:1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3.0:1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Rev/Total FTE ($K)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Rev/LOB FTE ($K)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TOCA Optimization Scenario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4114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Est. TOCA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~33% (17,567 FTE)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(RBC-level)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~28% (14,907 FTE)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 Reduction Required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~2,660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Savings (pre-tax)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~$370M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ROE 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~30–40 bps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Gap to RBC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0" y="3566160"/>
            <a:ext cx="3657600" cy="118872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9" name="Shape 5"/>
          <p:cNvSpPr/>
          <p:nvPr/>
        </p:nvSpPr>
        <p:spPr>
          <a:xfrm>
            <a:off x="5029200" y="3566160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6"/>
          <p:cNvSpPr/>
          <p:nvPr/>
        </p:nvSpPr>
        <p:spPr>
          <a:xfrm>
            <a:off x="5212080" y="3611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CONTEXT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estimates carry ±3–5 pp uncertainty. No Big 6 bank publicly discloses TOCA vs LOB headcount. These are Fermi estimates using three independent methods.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WARLAB  |  Prepared by MIA  |  Classification: PUBLIC  | 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DYNAMICS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of the West: The Integration Tail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097280"/>
            <a:ext cx="1965960" cy="1188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0" y="1097280"/>
            <a:ext cx="45720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4983480" y="1170432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OVERHEAD
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back-office, ops, compliance, and tech staffing through 2023–2024. Reductions of ~4.3% in FY2024 are normalization.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903720" y="1097280"/>
            <a:ext cx="1965960" cy="1188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03720" y="1097280"/>
            <a:ext cx="45720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0" y="1170432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LOAN BOOK DECLINING
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loans fell 2%, deposits down 5% in Q4 FY2025. Exiting RV loans, indirect auto, franchise lending.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846320" y="2423160"/>
            <a:ext cx="1965960" cy="118872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423160"/>
            <a:ext cx="45720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2496312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BRANCH DIVESTITURES
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$102M goodwill write-down Q4 2025. Geographic rationalization of physical footprint still in progress.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903720" y="2423160"/>
            <a:ext cx="1965960" cy="11887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03720" y="2423160"/>
            <a:ext cx="45720" cy="1188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2496312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REVENUE HIRES
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commercial bankers and private advisors hired in last 12 months. Loan growth expected by Q2/Q3 2026.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Shape 16"/>
          <p:cNvSpPr/>
          <p:nvPr/>
        </p:nvSpPr>
        <p:spPr>
          <a:xfrm>
            <a:off x="457200" y="384048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Revenue-producing role ratio is temporarily skewed toward support roles due to integration demands. Internal data can validate the RP:NRP ratio trajectory FY2022–FY2025.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WARLAB  |  Prepared by MIA  |  Classification: PUBLIC  | 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DYNAMICS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Turnover Benchmarking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109728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" y="361188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US OPERATIONS DRIVE HIGHER TURNOVER
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BMO’s US voluntary turnover (12.2%) runs 24% higher than Canada (9.8%). US involuntary turnover (10.3%) is nearly 3× the Canadian rate (3.5%). TD shows a similar pattern. Higher turnover drives recruiting costs, training investment, productivity loss, and institutional knowledge attrition.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WARLAB  |  Prepared by MIA  |  Classification: PUBLIC  | 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CONCENTRATION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Revenue &amp; Workforce Exposure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393192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640080"/>
                <a:gridCol w="594360"/>
                <a:gridCol w="685800"/>
                <a:gridCol w="1417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Emps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% WF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US Rev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Presence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~30-35%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retail (BoW), US P&amp;C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31,054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~25-30%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Bank N.A. (1,171+ br.)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16,101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~10-15%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National, Wealth Mgmt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Comm. Banking &amp; WM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~3-5%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Limited; Intl = LatAm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~min.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FL branches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" y="3200400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~33% of BMO’s business is US-based, and US ops require 1.3–1.5× the support infrastructure per revenue dollar, that alone explains a significant portion of the TOCA gap vs. domestically-focused peers.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3840480"/>
            <a:ext cx="2011680" cy="7315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3840480"/>
            <a:ext cx="4572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576072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OVERHEAD
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Dodd-Frank, CFPB, OCC, FDIC, BSA/AML — far more prescriptive than OSFI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2578608" y="3840480"/>
            <a:ext cx="2011680" cy="7315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78608" y="3840480"/>
            <a:ext cx="4572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1"/>
          <p:cNvSpPr/>
          <p:nvPr/>
        </p:nvSpPr>
        <p:spPr>
          <a:xfrm>
            <a:off x="2697480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US TURNOVER
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voluntary 12.2% vs CA 9.8%. US involuntary 10.3% vs CA 3.5%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4700016" y="3840480"/>
            <a:ext cx="2011680" cy="7315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00016" y="3840480"/>
            <a:ext cx="4572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4"/>
          <p:cNvSpPr/>
          <p:nvPr/>
        </p:nvSpPr>
        <p:spPr>
          <a:xfrm>
            <a:off x="4818888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PREMIUMS
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banking salaries materially higher, especially tech &amp; compliance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6821424" y="3840480"/>
            <a:ext cx="2011680" cy="7315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21424" y="3840480"/>
            <a:ext cx="4572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7"/>
          <p:cNvSpPr/>
          <p:nvPr/>
        </p:nvSpPr>
        <p:spPr>
          <a:xfrm>
            <a:off x="6940296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INFRASTRUCTURE
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risk, compliance, legal, tech, ops functions for US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WARLAB  |  Prepared by MIA  |  Classification: PUBLIC  | 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65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MULTIPLIER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Enhanced Prudential Standards (EPS)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Banking Organizations with &gt;$100B in US assets must establish a US Intermediate Holding Company (IHC) — effectively a second bank-within-a-bank.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029200" cy="384048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920240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Capital Requirements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Canadian OSFI capital rules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5029200" cy="384048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423160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23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Liquidity (LCR)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2423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liquidity coverage ratio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5029200" cy="384048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926080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26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Stress Testing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2926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CCAR / DFAST separate from Canadian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5029200" cy="384048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429000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29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Resolution Planning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3429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will for US operations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931920"/>
            <a:ext cx="5029200" cy="384048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931920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931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Risk Management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3931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governance &amp; risk apparatus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1828800"/>
            <a:ext cx="2743200" cy="25603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Quantifying the Effect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2860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~1.4×</a:t>
            </a:r>
            <a:endParaRPr lang="en-US" sz="2800" dirty="0"/>
          </a:p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US support cost
per revenue dollar
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~4.6pp</a:t>
            </a:r>
            <a:endParaRPr lang="en-US" sz="2800" dirty="0"/>
          </a:p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TOCA burden</a:t>
            </a:r>
            <a:endParaRPr lang="en-US" sz="2800" dirty="0"/>
          </a:p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 operations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2A1215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526280"/>
            <a:ext cx="54864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445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 TALE:  </a:t>
            </a:r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TD’s $4.2B AML penalty (2024) consumed ~47% of FY2024 net income and triggered a 10% US asset cap. This illustrates extreme tail risk when US compliance infrastructure proves inadequate.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Ratio &amp; NIE Decomposition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1097280"/>
          <a:ext cx="39319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429000"/>
            <a:ext cx="2011680" cy="10058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3429000"/>
            <a:ext cx="4572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5"/>
          <p:cNvSpPr/>
          <p:nvPr/>
        </p:nvSpPr>
        <p:spPr>
          <a:xfrm>
            <a:off x="576072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
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variable comp in cap markets &amp; wealth in strong revenue quarters.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578608" y="3429000"/>
            <a:ext cx="2011680" cy="10058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78608" y="342900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8"/>
          <p:cNvSpPr/>
          <p:nvPr/>
        </p:nvSpPr>
        <p:spPr>
          <a:xfrm>
            <a:off x="2697480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OPS
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systems during integration, SAP S/4HANA migration, cloud, AI. ~$1.3B invested 2023–2024.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4700016" y="3429000"/>
            <a:ext cx="2011680" cy="1005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00016" y="3429000"/>
            <a:ext cx="4572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1"/>
          <p:cNvSpPr/>
          <p:nvPr/>
        </p:nvSpPr>
        <p:spPr>
          <a:xfrm>
            <a:off x="4818888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SEVERANCE CHARGES
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$202M pre-tax Q1 2026 alone (~700 positions). Efficiency gains purchased at separation cost.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6821424" y="3429000"/>
            <a:ext cx="2011680" cy="10058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21424" y="342900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4"/>
          <p:cNvSpPr/>
          <p:nvPr/>
        </p:nvSpPr>
        <p:spPr>
          <a:xfrm>
            <a:off x="6940296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ACQ. INTANGIBLES
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$96M pre-tax amortization Q1 2026. Tail of Bank of the West and Burgundy costs.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WARLAB  |  Prepared by MIA  |  Classification: PUBLIC  | 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Investment &amp; Workforce Displacement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011680" cy="9144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7.2M+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DIGITAL USERS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YoY growth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78608" y="1097280"/>
            <a:ext cx="2011680" cy="9144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78608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2.5M+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7860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INTERACTIONS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578608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BMO Assist, 260 topics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00016" y="1097280"/>
            <a:ext cx="2011680" cy="9144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260M+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0016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00016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FY2025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821424" y="1097280"/>
            <a:ext cx="2011680" cy="9144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21424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~$1.3B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21424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INVESTMENT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21424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2023–2024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Workforce Actions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5486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~3,000+ cut (~3%)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2023; AML/governance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~2,400 cut (~5%)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FY2024; reinvesting in cap mkts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senior exec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Post-HSBC; targeting ~$740M synergies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Multi-thousand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18 mo. under new CEO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~700 (Q1 2026)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$202M charge; BoW normalization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3977640"/>
            <a:ext cx="402336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4" name="Shape 21"/>
          <p:cNvSpPr/>
          <p:nvPr/>
        </p:nvSpPr>
        <p:spPr>
          <a:xfrm>
            <a:off x="457200" y="39776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40050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ratio of non-revenue roles eliminated by digital/AI vs. roles maintained. Are they redeployed to revenue roles or simply eliminated?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663440" y="3977640"/>
            <a:ext cx="4023360" cy="6400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7" name="Shape 24"/>
          <p:cNvSpPr/>
          <p:nvPr/>
        </p:nvSpPr>
        <p:spPr>
          <a:xfrm>
            <a:off x="4663440" y="3977640"/>
            <a:ext cx="4572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5"/>
          <p:cNvSpPr/>
          <p:nvPr/>
        </p:nvSpPr>
        <p:spPr>
          <a:xfrm>
            <a:off x="4800600" y="40050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banking wage is rising despite headcount cuts — lower-skilled transactional roles replaced by higher-skilled analytical, advisory, and technical staff.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WARLAB  |  Prepared by MIA  |  Classification: PUBLIC  | 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Ranked Workforce Hypotheses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workforce hypotheses, in order of likely impact: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36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1463040"/>
            <a:ext cx="7635240" cy="530352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1463040"/>
            <a:ext cx="45720" cy="5303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46304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Post-Acquisition Workforce Normalization Lag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146304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integration creating temporary support-role bloat. HC reductions of ~4.3% FY24, ~0.7% FY25 are normalization, but incomplete.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121408"/>
            <a:ext cx="7635240" cy="530352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2121408"/>
            <a:ext cx="45720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12140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Banking Workforce Productivity Deficit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21214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loan book + divesting branches + new banker ramp = temporary rev/employee depression. U.S. Banking ROE improved 170 bps to 8.1%.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285292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779776"/>
            <a:ext cx="7635240" cy="530352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2779776"/>
            <a:ext cx="4572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277977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Digital-to-Headcount Conversion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277977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~$1.3B digital investment not yet fully reflected in non-revenue role displacement. AI tools deployed but efficiency depends on adoption.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3511296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5112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51560" y="3438144"/>
            <a:ext cx="7635240" cy="530352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1560" y="3438144"/>
            <a:ext cx="4572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343814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Dual-Jurisdiction Regulatory Staffing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343814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OSFI + OCC/FDIC mandate a “bank-within-a-bank.” Enhanced Prudential Standards require separate capital, liquidity, stress testing, resolution planning.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4169664"/>
            <a:ext cx="320040" cy="320040"/>
          </a:xfrm>
          <a:prstGeom prst="ellipse">
            <a:avLst/>
          </a:prstGeom>
          <a:solidFill>
            <a:srgbClr val="B0B8C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69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51560" y="4096512"/>
            <a:ext cx="7635240" cy="530352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1560" y="4096512"/>
            <a:ext cx="45720" cy="530352"/>
          </a:xfrm>
          <a:prstGeom prst="rect">
            <a:avLst/>
          </a:prstGeom>
          <a:solidFill>
            <a:srgbClr val="B0B8C8"/>
          </a:solidFill>
          <a:ln/>
        </p:spPr>
      </p:sp>
      <p:sp>
        <p:nvSpPr>
          <p:cNvPr id="35" name="Text 33"/>
          <p:cNvSpPr/>
          <p:nvPr/>
        </p:nvSpPr>
        <p:spPr>
          <a:xfrm>
            <a:off x="1188720" y="409651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Cost Structure (BoW)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0" y="409651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California/Colorado premium labor costs. Bay Area layoffs and 138-branch divestiture signal ongoing geographic cost optimization.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hypothesis is testable with internal data available within the WARLab environment.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Internal Research Agenda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743200"/>
                <a:gridCol w="237744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Insight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Revenue-producing vs. support role ratio by segment, FY2022–2025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RP:NRP ratio trended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Quantify mix shift from BoW integration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 decomposition by workforce component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Comp, benefits, severance, contractor % of NIE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which labor cost drives efficiency gap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displacement rate by role family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 eliminated by automation / maintained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workforce leverage from digital investment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Voluntary turnover: revenue-producing vs. support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Turnover rate, cost per departure, time-to-fill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revenue-capacity leakage from attrition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Banking workforce productivity analysis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Revenue/FTE, loans/banker, deposits/advisor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U.S. segment vs Canadian P&amp;C per capita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mobility rate pre/post acquisition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moves + promotions as % of HC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organizational velocity and agility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AI/digital adoption by segment and role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usage rates, productivity lift per tool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digital investment to measurable efficiency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compensation arbitrage analysis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Cost/FTE and Rev/FTE by market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highest-leverage geographic rebalancing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160520"/>
            <a:ext cx="54864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1788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PRIORITY: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#1 (revenue-producing role ratio) and #2 (NIE decomposition) — these will provide the highest-signal early findings and are testable with data available in the WARLab environment.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WARLAB  |  Prepared by MIA  |  Classification: PUBLIC  | 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BMO Q4 FY2025 Earnings Release (Dec 4, 2025)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BMO Q1 FY2026 Earnings Release (Feb 25, 2026)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BMO 2025 Annual Report; BMO 2024 Annual Report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BMO 2024 Talent &amp; Inclusion Supplementary Sustainability Info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2024 Annual Report &amp; Sustainability Report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2024 Sustainability Report &amp; Performance Data Pack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CIBC 2024 Sustainability Report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 2024 Sustainability Report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Bank 2024 Sustainability Report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 and Mail, American Banker, CSIMarket, MacroTrends, PwC Canada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McKinsey, Accenture, Oliver Wyman banking benchmarks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Canada Working Paper 2025-1: International Exposure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sourced from publicly available documents as of February 27, 2026. No internal BMO data was used.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WARLAB  |  Prepared by MIA  |  Classification: PUBLIC  |  February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WARLAB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1828800" cy="457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Workforce Analytics — PeCU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PUBLIC  |  February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entirely on publicly available information.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BMO data was used.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BMO Workforce Analytics Research Briefing</dc:title>
  <dc:subject>PptxGenJS Presentation</dc:subject>
  <dc:creator>WARLAB - Prepared by MIA</dc:creator>
  <cp:lastModifiedBy>WARLAB - Prepared by MIA</cp:lastModifiedBy>
  <cp:revision>1</cp:revision>
  <dcterms:created xsi:type="dcterms:W3CDTF">2026-02-27T23:57:40Z</dcterms:created>
  <dcterms:modified xsi:type="dcterms:W3CDTF">2026-02-27T23:57:40Z</dcterms:modified>
</cp:coreProperties>
</file>